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4" r:id="rId6"/>
    <p:sldId id="270" r:id="rId7"/>
    <p:sldId id="271" r:id="rId8"/>
    <p:sldId id="269" r:id="rId9"/>
    <p:sldId id="266" r:id="rId10"/>
    <p:sldId id="267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279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8AF16A-CB2E-43B6-9BA9-85713423BAA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99BA1A7-D03F-4D54-9E62-346B449A98D9}">
      <dgm:prSet/>
      <dgm:spPr/>
      <dgm:t>
        <a:bodyPr/>
        <a:lstStyle/>
        <a:p>
          <a:pPr>
            <a:defRPr cap="all"/>
          </a:pPr>
          <a:r>
            <a:rPr lang="en-US"/>
            <a:t>Input 1 Predicted Profit = 70,037.90</a:t>
          </a:r>
        </a:p>
      </dgm:t>
    </dgm:pt>
    <dgm:pt modelId="{806D8EFA-F4DD-4AF6-A140-74156ABEEE44}" type="parTrans" cxnId="{C6FE3658-888B-4EA1-85DA-D11B4946F0D6}">
      <dgm:prSet/>
      <dgm:spPr/>
      <dgm:t>
        <a:bodyPr/>
        <a:lstStyle/>
        <a:p>
          <a:endParaRPr lang="en-US"/>
        </a:p>
      </dgm:t>
    </dgm:pt>
    <dgm:pt modelId="{D6EFB274-1B8A-4AD6-B040-2DDBD198C8AC}" type="sibTrans" cxnId="{C6FE3658-888B-4EA1-85DA-D11B4946F0D6}">
      <dgm:prSet/>
      <dgm:spPr/>
      <dgm:t>
        <a:bodyPr/>
        <a:lstStyle/>
        <a:p>
          <a:endParaRPr lang="en-US"/>
        </a:p>
      </dgm:t>
    </dgm:pt>
    <dgm:pt modelId="{F7064389-3178-4063-B58B-8F2F548511B8}">
      <dgm:prSet/>
      <dgm:spPr/>
      <dgm:t>
        <a:bodyPr/>
        <a:lstStyle/>
        <a:p>
          <a:pPr>
            <a:defRPr cap="all"/>
          </a:pPr>
          <a:r>
            <a:rPr lang="en-US"/>
            <a:t>Input 2 Predicted Profit = 70,554.57</a:t>
          </a:r>
        </a:p>
      </dgm:t>
    </dgm:pt>
    <dgm:pt modelId="{8D8A0D0E-CD85-474E-8CE7-1D878C23A727}" type="parTrans" cxnId="{E6A99E2F-6C73-40CE-BC85-2AFF2901814D}">
      <dgm:prSet/>
      <dgm:spPr/>
      <dgm:t>
        <a:bodyPr/>
        <a:lstStyle/>
        <a:p>
          <a:endParaRPr lang="en-US"/>
        </a:p>
      </dgm:t>
    </dgm:pt>
    <dgm:pt modelId="{796EBF6E-69A7-41F4-9C2E-60654A1CD6EF}" type="sibTrans" cxnId="{E6A99E2F-6C73-40CE-BC85-2AFF2901814D}">
      <dgm:prSet/>
      <dgm:spPr/>
      <dgm:t>
        <a:bodyPr/>
        <a:lstStyle/>
        <a:p>
          <a:endParaRPr lang="en-US"/>
        </a:p>
      </dgm:t>
    </dgm:pt>
    <dgm:pt modelId="{3AD7D9A8-788B-4E7F-8B4D-3AF9F13473F7}" type="pres">
      <dgm:prSet presAssocID="{7C8AF16A-CB2E-43B6-9BA9-85713423BAA6}" presName="root" presStyleCnt="0">
        <dgm:presLayoutVars>
          <dgm:dir/>
          <dgm:resizeHandles val="exact"/>
        </dgm:presLayoutVars>
      </dgm:prSet>
      <dgm:spPr/>
    </dgm:pt>
    <dgm:pt modelId="{8EFB33BB-AB79-41A9-A016-AC0A807F085C}" type="pres">
      <dgm:prSet presAssocID="{199BA1A7-D03F-4D54-9E62-346B449A98D9}" presName="compNode" presStyleCnt="0"/>
      <dgm:spPr/>
    </dgm:pt>
    <dgm:pt modelId="{2ABD4FD9-4EF8-4137-8477-BF5CB31E26B3}" type="pres">
      <dgm:prSet presAssocID="{199BA1A7-D03F-4D54-9E62-346B449A98D9}" presName="iconBgRect" presStyleLbl="bgShp" presStyleIdx="0" presStyleCnt="2"/>
      <dgm:spPr/>
    </dgm:pt>
    <dgm:pt modelId="{6B1566BC-0DAC-426D-A07B-EFA0E7F7A7FB}" type="pres">
      <dgm:prSet presAssocID="{199BA1A7-D03F-4D54-9E62-346B449A98D9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535FED9-4B15-4A35-8B82-816A7416BF86}" type="pres">
      <dgm:prSet presAssocID="{199BA1A7-D03F-4D54-9E62-346B449A98D9}" presName="spaceRect" presStyleCnt="0"/>
      <dgm:spPr/>
    </dgm:pt>
    <dgm:pt modelId="{D78F3923-EAD9-494E-92EB-681A4578F873}" type="pres">
      <dgm:prSet presAssocID="{199BA1A7-D03F-4D54-9E62-346B449A98D9}" presName="textRect" presStyleLbl="revTx" presStyleIdx="0" presStyleCnt="2">
        <dgm:presLayoutVars>
          <dgm:chMax val="1"/>
          <dgm:chPref val="1"/>
        </dgm:presLayoutVars>
      </dgm:prSet>
      <dgm:spPr/>
    </dgm:pt>
    <dgm:pt modelId="{E15FC899-DD20-4F42-97A8-55807DB9D501}" type="pres">
      <dgm:prSet presAssocID="{D6EFB274-1B8A-4AD6-B040-2DDBD198C8AC}" presName="sibTrans" presStyleCnt="0"/>
      <dgm:spPr/>
    </dgm:pt>
    <dgm:pt modelId="{5261D38F-BA08-4DE3-BA46-80A6B434DFAB}" type="pres">
      <dgm:prSet presAssocID="{F7064389-3178-4063-B58B-8F2F548511B8}" presName="compNode" presStyleCnt="0"/>
      <dgm:spPr/>
    </dgm:pt>
    <dgm:pt modelId="{1022853F-E611-4FC4-983C-46986C9EE244}" type="pres">
      <dgm:prSet presAssocID="{F7064389-3178-4063-B58B-8F2F548511B8}" presName="iconBgRect" presStyleLbl="bgShp" presStyleIdx="1" presStyleCnt="2"/>
      <dgm:spPr/>
    </dgm:pt>
    <dgm:pt modelId="{E826F9E0-E819-4A11-9FAA-9FF90AFAC30C}" type="pres">
      <dgm:prSet presAssocID="{F7064389-3178-4063-B58B-8F2F548511B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20ECAFF8-10B8-4C12-9F6D-E478E762DC78}" type="pres">
      <dgm:prSet presAssocID="{F7064389-3178-4063-B58B-8F2F548511B8}" presName="spaceRect" presStyleCnt="0"/>
      <dgm:spPr/>
    </dgm:pt>
    <dgm:pt modelId="{C73E4309-2FD5-4E9D-96DA-59C0D7A1345C}" type="pres">
      <dgm:prSet presAssocID="{F7064389-3178-4063-B58B-8F2F548511B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6A99E2F-6C73-40CE-BC85-2AFF2901814D}" srcId="{7C8AF16A-CB2E-43B6-9BA9-85713423BAA6}" destId="{F7064389-3178-4063-B58B-8F2F548511B8}" srcOrd="1" destOrd="0" parTransId="{8D8A0D0E-CD85-474E-8CE7-1D878C23A727}" sibTransId="{796EBF6E-69A7-41F4-9C2E-60654A1CD6EF}"/>
    <dgm:cxn modelId="{A8746A66-F5AE-4FEC-94F7-8C2363C09EAB}" type="presOf" srcId="{199BA1A7-D03F-4D54-9E62-346B449A98D9}" destId="{D78F3923-EAD9-494E-92EB-681A4578F873}" srcOrd="0" destOrd="0" presId="urn:microsoft.com/office/officeart/2018/5/layout/IconCircleLabelList"/>
    <dgm:cxn modelId="{C6FE3658-888B-4EA1-85DA-D11B4946F0D6}" srcId="{7C8AF16A-CB2E-43B6-9BA9-85713423BAA6}" destId="{199BA1A7-D03F-4D54-9E62-346B449A98D9}" srcOrd="0" destOrd="0" parTransId="{806D8EFA-F4DD-4AF6-A140-74156ABEEE44}" sibTransId="{D6EFB274-1B8A-4AD6-B040-2DDBD198C8AC}"/>
    <dgm:cxn modelId="{8F48579F-62DF-4447-BBE7-6813855EB308}" type="presOf" srcId="{F7064389-3178-4063-B58B-8F2F548511B8}" destId="{C73E4309-2FD5-4E9D-96DA-59C0D7A1345C}" srcOrd="0" destOrd="0" presId="urn:microsoft.com/office/officeart/2018/5/layout/IconCircleLabelList"/>
    <dgm:cxn modelId="{6C6417E9-4739-4F42-89BC-9DB96D5A5CCF}" type="presOf" srcId="{7C8AF16A-CB2E-43B6-9BA9-85713423BAA6}" destId="{3AD7D9A8-788B-4E7F-8B4D-3AF9F13473F7}" srcOrd="0" destOrd="0" presId="urn:microsoft.com/office/officeart/2018/5/layout/IconCircleLabelList"/>
    <dgm:cxn modelId="{3BB7DF16-836A-442C-9F6C-47ABF9B186E2}" type="presParOf" srcId="{3AD7D9A8-788B-4E7F-8B4D-3AF9F13473F7}" destId="{8EFB33BB-AB79-41A9-A016-AC0A807F085C}" srcOrd="0" destOrd="0" presId="urn:microsoft.com/office/officeart/2018/5/layout/IconCircleLabelList"/>
    <dgm:cxn modelId="{1740E9F7-164D-40A9-8F4D-CDF083A55601}" type="presParOf" srcId="{8EFB33BB-AB79-41A9-A016-AC0A807F085C}" destId="{2ABD4FD9-4EF8-4137-8477-BF5CB31E26B3}" srcOrd="0" destOrd="0" presId="urn:microsoft.com/office/officeart/2018/5/layout/IconCircleLabelList"/>
    <dgm:cxn modelId="{D83ABE3B-1470-4A1F-B0A1-EEB64C4E1B9F}" type="presParOf" srcId="{8EFB33BB-AB79-41A9-A016-AC0A807F085C}" destId="{6B1566BC-0DAC-426D-A07B-EFA0E7F7A7FB}" srcOrd="1" destOrd="0" presId="urn:microsoft.com/office/officeart/2018/5/layout/IconCircleLabelList"/>
    <dgm:cxn modelId="{499DD241-E655-436F-8B52-C702B4FC49BC}" type="presParOf" srcId="{8EFB33BB-AB79-41A9-A016-AC0A807F085C}" destId="{C535FED9-4B15-4A35-8B82-816A7416BF86}" srcOrd="2" destOrd="0" presId="urn:microsoft.com/office/officeart/2018/5/layout/IconCircleLabelList"/>
    <dgm:cxn modelId="{A3CBC4B8-716D-49B1-964E-CAE35A7442A8}" type="presParOf" srcId="{8EFB33BB-AB79-41A9-A016-AC0A807F085C}" destId="{D78F3923-EAD9-494E-92EB-681A4578F873}" srcOrd="3" destOrd="0" presId="urn:microsoft.com/office/officeart/2018/5/layout/IconCircleLabelList"/>
    <dgm:cxn modelId="{CBF729D0-7951-4A2D-B3EB-56E2E4E0A958}" type="presParOf" srcId="{3AD7D9A8-788B-4E7F-8B4D-3AF9F13473F7}" destId="{E15FC899-DD20-4F42-97A8-55807DB9D501}" srcOrd="1" destOrd="0" presId="urn:microsoft.com/office/officeart/2018/5/layout/IconCircleLabelList"/>
    <dgm:cxn modelId="{0D81804F-0EC5-4C92-8824-42B8CD275E57}" type="presParOf" srcId="{3AD7D9A8-788B-4E7F-8B4D-3AF9F13473F7}" destId="{5261D38F-BA08-4DE3-BA46-80A6B434DFAB}" srcOrd="2" destOrd="0" presId="urn:microsoft.com/office/officeart/2018/5/layout/IconCircleLabelList"/>
    <dgm:cxn modelId="{952DFEEC-B288-4E58-84F9-CD02E7C56C65}" type="presParOf" srcId="{5261D38F-BA08-4DE3-BA46-80A6B434DFAB}" destId="{1022853F-E611-4FC4-983C-46986C9EE244}" srcOrd="0" destOrd="0" presId="urn:microsoft.com/office/officeart/2018/5/layout/IconCircleLabelList"/>
    <dgm:cxn modelId="{63DF6AA0-0F01-40AE-BA81-0525659AC6DE}" type="presParOf" srcId="{5261D38F-BA08-4DE3-BA46-80A6B434DFAB}" destId="{E826F9E0-E819-4A11-9FAA-9FF90AFAC30C}" srcOrd="1" destOrd="0" presId="urn:microsoft.com/office/officeart/2018/5/layout/IconCircleLabelList"/>
    <dgm:cxn modelId="{6458F31F-E393-4903-AACF-A6CCEDA008DB}" type="presParOf" srcId="{5261D38F-BA08-4DE3-BA46-80A6B434DFAB}" destId="{20ECAFF8-10B8-4C12-9F6D-E478E762DC78}" srcOrd="2" destOrd="0" presId="urn:microsoft.com/office/officeart/2018/5/layout/IconCircleLabelList"/>
    <dgm:cxn modelId="{9D1CB747-80AC-4512-B9BF-645FFB61BD88}" type="presParOf" srcId="{5261D38F-BA08-4DE3-BA46-80A6B434DFAB}" destId="{C73E4309-2FD5-4E9D-96DA-59C0D7A1345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BD4FD9-4EF8-4137-8477-BF5CB31E26B3}">
      <dsp:nvSpPr>
        <dsp:cNvPr id="0" name=""/>
        <dsp:cNvSpPr/>
      </dsp:nvSpPr>
      <dsp:spPr>
        <a:xfrm>
          <a:off x="702561" y="82424"/>
          <a:ext cx="2058750" cy="20587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1566BC-0DAC-426D-A07B-EFA0E7F7A7FB}">
      <dsp:nvSpPr>
        <dsp:cNvPr id="0" name=""/>
        <dsp:cNvSpPr/>
      </dsp:nvSpPr>
      <dsp:spPr>
        <a:xfrm>
          <a:off x="1141312" y="521174"/>
          <a:ext cx="1181250" cy="1181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8F3923-EAD9-494E-92EB-681A4578F873}">
      <dsp:nvSpPr>
        <dsp:cNvPr id="0" name=""/>
        <dsp:cNvSpPr/>
      </dsp:nvSpPr>
      <dsp:spPr>
        <a:xfrm>
          <a:off x="44437" y="2782425"/>
          <a:ext cx="33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/>
            <a:t>Input 1 Predicted Profit = 70,037.90</a:t>
          </a:r>
        </a:p>
      </dsp:txBody>
      <dsp:txXfrm>
        <a:off x="44437" y="2782425"/>
        <a:ext cx="3375000" cy="720000"/>
      </dsp:txXfrm>
    </dsp:sp>
    <dsp:sp modelId="{1022853F-E611-4FC4-983C-46986C9EE244}">
      <dsp:nvSpPr>
        <dsp:cNvPr id="0" name=""/>
        <dsp:cNvSpPr/>
      </dsp:nvSpPr>
      <dsp:spPr>
        <a:xfrm>
          <a:off x="4668187" y="82424"/>
          <a:ext cx="2058750" cy="20587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26F9E0-E819-4A11-9FAA-9FF90AFAC30C}">
      <dsp:nvSpPr>
        <dsp:cNvPr id="0" name=""/>
        <dsp:cNvSpPr/>
      </dsp:nvSpPr>
      <dsp:spPr>
        <a:xfrm>
          <a:off x="5106937" y="521174"/>
          <a:ext cx="1181250" cy="1181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3E4309-2FD5-4E9D-96DA-59C0D7A1345C}">
      <dsp:nvSpPr>
        <dsp:cNvPr id="0" name=""/>
        <dsp:cNvSpPr/>
      </dsp:nvSpPr>
      <dsp:spPr>
        <a:xfrm>
          <a:off x="4010062" y="2782425"/>
          <a:ext cx="337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/>
            <a:t>Input 2 Predicted Profit = 70,554.57</a:t>
          </a:r>
        </a:p>
      </dsp:txBody>
      <dsp:txXfrm>
        <a:off x="4010062" y="2782425"/>
        <a:ext cx="3375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264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24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7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023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71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47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128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525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831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263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908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22492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775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2993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058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86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305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0417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latin typeface="Calibri" panose="020F0502020204030204" pitchFamily="34" charset="0"/>
                <a:cs typeface="Calibri" panose="020F0502020204030204" pitchFamily="34" charset="0"/>
              </a:rPr>
              <a:t>PROFIT ANALYSIS</a:t>
            </a:r>
            <a:endParaRPr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3045759"/>
            <a:ext cx="7429499" cy="2745442"/>
          </a:xfrm>
        </p:spPr>
        <p:txBody>
          <a:bodyPr/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0476"/>
            <a:ext cx="7429499" cy="786653"/>
          </a:xfrm>
        </p:spPr>
        <p:txBody>
          <a:bodyPr/>
          <a:lstStyle/>
          <a:p>
            <a:pPr algn="ctr"/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Problem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573306"/>
            <a:ext cx="7429499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Analyze the relationship between startup investments and profit.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Identify the factors that have the greatest impact on profit.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Build a regression model to predict startup profit.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699294"/>
          </a:xfrm>
        </p:spPr>
        <p:txBody>
          <a:bodyPr/>
          <a:lstStyle/>
          <a:p>
            <a:pPr algn="ctr"/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dirty="0"/>
              <a:t>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553135"/>
            <a:ext cx="7429499" cy="4639236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Total Records : 50 Startups</a:t>
            </a:r>
          </a:p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 R &amp; D Spend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Administration Spend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Marketing Spend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 State</a:t>
            </a:r>
          </a:p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 Profit (Target Variable)</a:t>
            </a: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Checked for missing values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No missing values found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Verified numerical and categorical columns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Checked for duplicate records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Dataset ready for regression analysis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Regression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 is used to predict a target variable (Profit) based on multiple input features. It finds the best-fit line by minimizing the error between predicted and actual values.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37751-BBC0-6EAE-1497-7F05BF1FC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652229"/>
          </a:xfrm>
        </p:spPr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Model results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19872-B20B-9BBA-A7F3-493EF1A93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1808629"/>
            <a:ext cx="7429499" cy="3982572"/>
          </a:xfrm>
        </p:spPr>
        <p:txBody>
          <a:bodyPr/>
          <a:lstStyle/>
          <a:p>
            <a:r>
              <a:rPr lang="en-US" dirty="0"/>
              <a:t>R² = 0.9507</a:t>
            </a:r>
          </a:p>
          <a:p>
            <a:endParaRPr lang="en-US" dirty="0"/>
          </a:p>
          <a:p>
            <a:r>
              <a:rPr lang="en-US" dirty="0"/>
              <a:t>Profit = 50122.19 + 0.8057(R&amp;D) - 0.0268(Admin) + 0.0272(Marketing)</a:t>
            </a:r>
          </a:p>
          <a:p>
            <a:endParaRPr lang="en-US" dirty="0"/>
          </a:p>
          <a:p>
            <a:r>
              <a:rPr lang="en-US" dirty="0"/>
              <a:t>R&amp;D is the strongest predictor of Profit.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9379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4437C3-5716-0D51-87C5-32D67C457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 predictions</a:t>
            </a:r>
            <a:endParaRPr lang="en-IN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E84DA482-2955-EEDF-D71A-01879FEAAB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4795038"/>
              </p:ext>
            </p:extLst>
          </p:nvPr>
        </p:nvGraphicFramePr>
        <p:xfrm>
          <a:off x="856058" y="2440771"/>
          <a:ext cx="74294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1227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EAF06-632B-711A-C96C-AF08BBB26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618519"/>
            <a:ext cx="7429499" cy="665676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cap="none" dirty="0">
                <a:latin typeface="Calibri" panose="020F0502020204030204" pitchFamily="34" charset="0"/>
                <a:cs typeface="Calibri" panose="020F0502020204030204" pitchFamily="34" charset="0"/>
              </a:rPr>
              <a:t>isualizations</a:t>
            </a:r>
            <a:r>
              <a:rPr lang="en-US" dirty="0"/>
              <a:t> p</a:t>
            </a:r>
            <a:r>
              <a:rPr lang="en-US" cap="none" dirty="0"/>
              <a:t>ower</a:t>
            </a:r>
            <a:r>
              <a:rPr lang="en-US" dirty="0"/>
              <a:t> bi </a:t>
            </a:r>
            <a:r>
              <a:rPr lang="en-US" cap="none" dirty="0"/>
              <a:t>dashboard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0D0F6F-644B-13A5-156A-F094BE6DBC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5988" y="1900545"/>
            <a:ext cx="7429500" cy="386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066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R&amp;D Spend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has the highest positive correlation with profit.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Marketing spend positively influences profit.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Administration has minimal/negative impact.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recommendations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Increase investment in R&amp;D.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Optimize Marketing ROI.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Monitor Administration expenses.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83A5E-215B-FAD5-320A-E53774C91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CONCLUSION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4C9AA-95F2-BD80-9F84-ABCE1E73A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R&amp;D is the primary driver of profitability. Marketing contributes positively, while Administration spending has limited impact.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8847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125</TotalTime>
  <Words>238</Words>
  <Application>Microsoft Office PowerPoint</Application>
  <PresentationFormat>On-screen Show (4:3)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Tw Cen MT</vt:lpstr>
      <vt:lpstr>Circuit</vt:lpstr>
      <vt:lpstr>PROFIT ANALYSIS</vt:lpstr>
      <vt:lpstr>Problem Understanding</vt:lpstr>
      <vt:lpstr>Dataset Description</vt:lpstr>
      <vt:lpstr>Data Cleaning</vt:lpstr>
      <vt:lpstr>Regression Analysis</vt:lpstr>
      <vt:lpstr>Model results</vt:lpstr>
      <vt:lpstr> predictions</vt:lpstr>
      <vt:lpstr>Visualizations power bi dashboard</vt:lpstr>
      <vt:lpstr>Insights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vanitha N</cp:lastModifiedBy>
  <cp:revision>19</cp:revision>
  <dcterms:created xsi:type="dcterms:W3CDTF">2013-01-27T09:14:16Z</dcterms:created>
  <dcterms:modified xsi:type="dcterms:W3CDTF">2026-06-28T11:35:38Z</dcterms:modified>
  <cp:category/>
</cp:coreProperties>
</file>